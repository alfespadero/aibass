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A87710-CFDD-7F39-50B3-06D25EF35E09}" v="1164" dt="2026-05-28T09:22:58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A944F-AED9-4583-934F-2744F2D28338}" type="datetimeFigureOut">
              <a:t>28/05/2026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A5C75-A439-4EB6-A27D-BCDCFD332CB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56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Presentación de aiBass: sistema de IA embebida que identifica la nota tocada en un bajo eléctrico usando una IMU. En 10 minutos recorreré motivación, arquitectura, IA, resultados y futuro. La idea clave es evitar depender del audio y ofrecer una interfaz autónoma.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Estructuro la defensa en seis bloques para ir de lo conceptual a lo técnico y cerrar con resultados y futuro. Me apoyaré en ejemplos y decisiones clave del desarrollo.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motivación principal es evitar la dependencia del audio, que es sensible al entorno y a la mezcla. En lugar de eso, capturo vibraciones con una IMU. El objetivo es demostrar un prototipo autónomo que pueda ofrecer feedback al músico sin 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 objetivos combinan hardware, IA y firmware: capturar señal, entrenar el modelo, clasificar clases musicales discretas y ofrecer feedback local. Además, la arquitectura con FreeRTOS se planteó para facilitar futuras ampliaciones.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el estado del arte destaco afinadores por audio y trabajos cercanos en IA embebida. En mi caso, el diferencial es el uso de vibración local con una IMU y un sistema autónomo con salida LED. Sustituiré aquí las referencias concretas de la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stack combina MCU STM32, IMU LSM6DSL, NanoEdge AI para inferencia, FreeRTOS para organizar tareas y WS2812 para feedback. Esta combinación permite un prototipo completo sin depender de un 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es el pipeline end‑to‑end. FreeRTOS separa adquisición, preprocesado y clasificación. Actualmente, NanoEdge AI ofrece clasificación discreta, por lo que no se reportan centésimas de afinación; queda como mejora futura.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3A327-3E2F-6504-E84E-495D6F8B9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CFC63-AE5C-936C-E8C1-6CBE63130F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94E4E-D578-E61C-7EB9-1B03476D57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vídeos</a:t>
            </a:r>
            <a:r>
              <a:rPr lang="en-US" dirty="0"/>
              <a:t> </a:t>
            </a:r>
            <a:r>
              <a:rPr lang="en-US" dirty="0" err="1"/>
              <a:t>observamos</a:t>
            </a:r>
            <a:r>
              <a:rPr lang="en-US" dirty="0"/>
              <a:t> la </a:t>
            </a:r>
            <a:r>
              <a:rPr lang="en-US" dirty="0" err="1"/>
              <a:t>detección</a:t>
            </a:r>
            <a:r>
              <a:rPr lang="en-US" dirty="0"/>
              <a:t> de las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notas</a:t>
            </a:r>
            <a:r>
              <a:rPr lang="en-US" dirty="0"/>
              <a:t> </a:t>
            </a:r>
            <a:r>
              <a:rPr lang="en-US" b="1" dirty="0"/>
              <a:t>y sus </a:t>
            </a:r>
            <a:r>
              <a:rPr lang="en-US" b="1" dirty="0" err="1"/>
              <a:t>octavas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E179D-D87E-41BC-5E47-0AB8967E8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32537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firmware se estructura en tareas: adquisición de ventana de datos, clasificación y actualización LED. La sincronización por flags y mutex evita bloqueos. El driver de WS2812 e IMU se adaptó para FreeRTOS usando DMA y semáforos.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Aquí detallo dataset, pipeline de preprocesado y modelo. He dejado marcadores para valores numéricos concretos que están en la memoria. La idea es resaltar que el modelo es ligero y apto para MCU.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 añadió una tira WS2812 para que el sistema sea autónomo: cada nota tiene un color y el ruido se marca en rojo. UART se mantiene para trazabilidad técnica durante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planificación incluye una fase importante de investigación en Rust+Embassy (~100h) que se descartó por viabilidad. Los costes se completan con las cifras de la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Cierro con líneas de trabajo futuro: robustez, resolución musical y una placa propia con carcasa 3D. La conclusión es que el prototipo ya valida la idea y deja una base sólida para evolución.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https://uses0-my.sharepoint.com/:v:/r/personal/alfespgar_alum_us_es/Documents/TFG/assets/tuner1.mp4?csf=1&amp;web=1&amp;e=L7mdRZ&amp;nav=eyJyZWZlcnJhbEluZm8iOnsicmVmZXJyYWxBcHAiOiJTdHJlYW1XZWJBcHAiLCJyZWZlcnJhbFZpZXciOiJTaGFyZURpYWxvZy1MaW5rIiwicmVmZXJyYWxBcHBQbGF0Zm9ybSI6IldlYiIsInJlZmVycmFsTW9kZSI6InZpZXcifX0%3D" TargetMode="External"/><Relationship Id="rId1" Type="http://schemas.openxmlformats.org/officeDocument/2006/relationships/video" Target="https://uses0-my.sharepoint.com/:v:/r/personal/alfespgar_alum_us_es/Documents/TFG/assets/tuner2.mp4?csf=1&amp;web=1&amp;e=RL3R7Z&amp;nav=eyJyZWZlcnJhbEluZm8iOnsicmVmZXJyYWxBcHAiOiJTdHJlYW1XZWJBcHAiLCJyZWZlcnJhbFZpZXciOiJTaGFyZURpYWxvZy1MaW5rIiwicmVmZXJyYWxBcHBQbGF0Zm9ybSI6IldlYiIsInJlZmVycmFsTW9kZSI6InZpZXcifX0%3D" TargetMode="Externa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solidFill>
              <a:srgbClr val="0C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5029200" cy="6858000"/>
          </a:xfrm>
          <a:prstGeom prst="rect">
            <a:avLst/>
          </a:prstGeom>
          <a:solidFill>
            <a:srgbClr val="12223C"/>
          </a:solidFill>
          <a:ln>
            <a:solidFill>
              <a:srgbClr val="12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583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aiBass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766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DCE6F0"/>
                </a:solidFill>
                <a:latin typeface="Calibri"/>
              </a:rPr>
              <a:t>IA embebida para detección de notas
mediante señal inercial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4627613" cy="76944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600">
                <a:solidFill>
                  <a:srgbClr val="C8D2DC"/>
                </a:solidFill>
                <a:latin typeface="Calibri"/>
              </a:defRPr>
            </a:pPr>
            <a:r>
              <a:rPr b="1" dirty="0"/>
              <a:t>Alfonso Espadero García</a:t>
            </a:r>
            <a:r>
              <a:rPr dirty="0"/>
              <a:t> · Ingeniería </a:t>
            </a:r>
            <a:r>
              <a:rPr dirty="0" err="1"/>
              <a:t>Informática</a:t>
            </a:r>
            <a:endParaRPr lang="en-US" dirty="0" err="1">
              <a:ea typeface="Calibri"/>
              <a:cs typeface="Calibri"/>
            </a:endParaRPr>
          </a:p>
          <a:p>
            <a:pPr>
              <a:defRPr sz="1400">
                <a:solidFill>
                  <a:srgbClr val="C8D2DC"/>
                </a:solidFill>
                <a:latin typeface="Calibri"/>
              </a:defRPr>
            </a:pPr>
            <a:r>
              <a:rPr dirty="0" err="1"/>
              <a:t>Tutoría</a:t>
            </a:r>
            <a:r>
              <a:rPr dirty="0"/>
              <a:t>: Ángel Jiménez Fernández · Daniel Casanueva Morato</a:t>
            </a:r>
            <a:endParaRPr dirty="0">
              <a:ea typeface="Calibri"/>
              <a:cs typeface="Calibri"/>
            </a:endParaRPr>
          </a:p>
          <a:p>
            <a:pPr>
              <a:defRPr sz="1400">
                <a:solidFill>
                  <a:srgbClr val="C8D2DC"/>
                </a:solidFill>
                <a:latin typeface="Calibri"/>
              </a:defRPr>
            </a:pPr>
            <a:r>
              <a:rPr dirty="0"/>
              <a:t>Convocatoria de mayo · </a:t>
            </a:r>
            <a:r>
              <a:rPr dirty="0" err="1"/>
              <a:t>Curso</a:t>
            </a:r>
            <a:r>
              <a:rPr dirty="0"/>
              <a:t> 2025/2026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1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8069325" cy="499245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marL="571500" indent="-5715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3600" dirty="0" err="1"/>
              <a:t>Motivación</a:t>
            </a:r>
            <a:r>
              <a:rPr sz="3600" dirty="0"/>
              <a:t> y </a:t>
            </a:r>
            <a:r>
              <a:rPr sz="3600" dirty="0" err="1"/>
              <a:t>objetivos</a:t>
            </a:r>
            <a:endParaRPr lang="en-US" sz="3600">
              <a:ea typeface="Calibri"/>
              <a:cs typeface="Calibri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3600" dirty="0"/>
              <a:t>Estado del </a:t>
            </a:r>
            <a:r>
              <a:rPr sz="3600" dirty="0" err="1"/>
              <a:t>arte</a:t>
            </a:r>
            <a:r>
              <a:rPr sz="3600" dirty="0"/>
              <a:t> y </a:t>
            </a:r>
            <a:r>
              <a:rPr sz="3600" dirty="0" err="1"/>
              <a:t>aportación</a:t>
            </a:r>
            <a:r>
              <a:rPr sz="3600" dirty="0"/>
              <a:t> </a:t>
            </a:r>
            <a:r>
              <a:rPr sz="3600" dirty="0" err="1"/>
              <a:t>diferencial</a:t>
            </a:r>
            <a:endParaRPr sz="3600">
              <a:ea typeface="Calibri"/>
              <a:cs typeface="Calibri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3600" dirty="0" err="1"/>
              <a:t>Tecnologías</a:t>
            </a:r>
            <a:r>
              <a:rPr sz="3600" dirty="0"/>
              <a:t> y </a:t>
            </a:r>
            <a:r>
              <a:rPr sz="3600" dirty="0" err="1"/>
              <a:t>arquitectura</a:t>
            </a:r>
            <a:endParaRPr sz="3600">
              <a:ea typeface="Calibri"/>
              <a:cs typeface="Calibri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3600" dirty="0"/>
              <a:t>IA </a:t>
            </a:r>
            <a:r>
              <a:rPr sz="3600" dirty="0" err="1"/>
              <a:t>embebida</a:t>
            </a:r>
            <a:r>
              <a:rPr sz="3600" dirty="0"/>
              <a:t>: dataset y </a:t>
            </a:r>
            <a:r>
              <a:rPr sz="3600" dirty="0" err="1"/>
              <a:t>modelo</a:t>
            </a:r>
            <a:endParaRPr sz="3600">
              <a:ea typeface="Calibri"/>
              <a:cs typeface="Calibri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3600" dirty="0"/>
              <a:t>Firmware, </a:t>
            </a:r>
            <a:r>
              <a:rPr sz="3600" dirty="0" err="1"/>
              <a:t>interfaz</a:t>
            </a:r>
            <a:r>
              <a:rPr sz="3600" dirty="0"/>
              <a:t> y </a:t>
            </a:r>
            <a:r>
              <a:rPr sz="3600" dirty="0" err="1"/>
              <a:t>validación</a:t>
            </a:r>
            <a:endParaRPr sz="3600">
              <a:ea typeface="Calibri"/>
              <a:cs typeface="Calibri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3600" dirty="0" err="1"/>
              <a:t>Planificación</a:t>
            </a:r>
            <a:r>
              <a:rPr sz="3600" dirty="0"/>
              <a:t>, </a:t>
            </a:r>
            <a:r>
              <a:rPr sz="3600" dirty="0" err="1"/>
              <a:t>costes</a:t>
            </a:r>
            <a:r>
              <a:rPr sz="3600" dirty="0"/>
              <a:t> y </a:t>
            </a:r>
            <a:r>
              <a:rPr sz="3600" dirty="0" err="1"/>
              <a:t>trabajo</a:t>
            </a:r>
            <a:r>
              <a:rPr sz="3600" dirty="0"/>
              <a:t> </a:t>
            </a:r>
            <a:r>
              <a:rPr sz="3600" dirty="0" err="1"/>
              <a:t>futuro</a:t>
            </a:r>
            <a:endParaRPr sz="3600"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680"/>
                </a:solidFill>
                <a:latin typeface="Calibri"/>
              </a:rPr>
              <a:t>aiBass — TFG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1E1E"/>
                </a:solidFill>
                <a:latin typeface="Calibri"/>
              </a:rPr>
              <a:t>Motivación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496604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Calibri"/>
              </a:defRPr>
            </a:pPr>
            <a:r>
              <a:rPr dirty="0" err="1"/>
              <a:t>Identificar</a:t>
            </a:r>
            <a:r>
              <a:rPr dirty="0"/>
              <a:t> la nota </a:t>
            </a:r>
            <a:r>
              <a:rPr dirty="0" err="1"/>
              <a:t>ejecutada</a:t>
            </a:r>
            <a:r>
              <a:rPr dirty="0"/>
              <a:t> </a:t>
            </a:r>
            <a:r>
              <a:rPr b="1" dirty="0"/>
              <a:t>sin </a:t>
            </a:r>
            <a:r>
              <a:rPr b="1" dirty="0" err="1"/>
              <a:t>depender</a:t>
            </a:r>
            <a:r>
              <a:rPr b="1" dirty="0"/>
              <a:t> del </a:t>
            </a:r>
            <a:r>
              <a:rPr b="1" dirty="0" err="1"/>
              <a:t>entorno</a:t>
            </a:r>
            <a:r>
              <a:rPr b="1" dirty="0"/>
              <a:t> </a:t>
            </a:r>
            <a:r>
              <a:rPr b="1" dirty="0" err="1"/>
              <a:t>acústico</a:t>
            </a:r>
            <a:r>
              <a:rPr dirty="0"/>
              <a:t>.</a:t>
            </a:r>
          </a:p>
          <a:p>
            <a:pPr>
              <a:defRPr sz="2200">
                <a:solidFill>
                  <a:srgbClr val="1E1E1E"/>
                </a:solidFill>
                <a:latin typeface="Calibri"/>
              </a:defRPr>
            </a:pPr>
            <a:r>
              <a:rPr dirty="0" err="1"/>
              <a:t>Capturar</a:t>
            </a:r>
            <a:r>
              <a:rPr dirty="0"/>
              <a:t> </a:t>
            </a:r>
            <a:r>
              <a:rPr dirty="0" err="1"/>
              <a:t>vibraciones</a:t>
            </a:r>
            <a:r>
              <a:rPr dirty="0"/>
              <a:t> locales con </a:t>
            </a:r>
            <a:r>
              <a:rPr dirty="0" err="1"/>
              <a:t>una</a:t>
            </a:r>
            <a:r>
              <a:rPr dirty="0"/>
              <a:t> IMU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lugar</a:t>
            </a:r>
            <a:r>
              <a:rPr dirty="0"/>
              <a:t> del </a:t>
            </a:r>
            <a:r>
              <a:rPr dirty="0" err="1"/>
              <a:t>sonido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pPr>
              <a:defRPr sz="2200">
                <a:solidFill>
                  <a:srgbClr val="1E1E1E"/>
                </a:solidFill>
                <a:latin typeface="Calibri"/>
              </a:defRPr>
            </a:pPr>
            <a:r>
              <a:rPr dirty="0" err="1"/>
              <a:t>Integrar</a:t>
            </a:r>
            <a:r>
              <a:rPr dirty="0"/>
              <a:t> </a:t>
            </a:r>
            <a:r>
              <a:rPr dirty="0" err="1"/>
              <a:t>captura</a:t>
            </a:r>
            <a:r>
              <a:rPr dirty="0"/>
              <a:t>, </a:t>
            </a:r>
            <a:r>
              <a:rPr b="1" dirty="0" err="1"/>
              <a:t>inferencia</a:t>
            </a:r>
            <a:r>
              <a:rPr b="1" dirty="0"/>
              <a:t> </a:t>
            </a:r>
            <a:r>
              <a:rPr dirty="0"/>
              <a:t>y salida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prototipo</a:t>
            </a:r>
            <a:r>
              <a:rPr dirty="0"/>
              <a:t> </a:t>
            </a:r>
            <a:r>
              <a:rPr dirty="0" err="1"/>
              <a:t>autónomo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0789920" cy="1097280"/>
          </a:xfrm>
          <a:prstGeom prst="rect">
            <a:avLst/>
          </a:prstGeom>
          <a:solidFill>
            <a:srgbClr val="E8F8F4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1024128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Idea clave</a:t>
            </a: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t>Sensórica inercial + IA embebida ⇒ clasificación discreta de notas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680"/>
                </a:solidFill>
                <a:latin typeface="Calibri"/>
              </a:rPr>
              <a:t>aiBass — TFG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1E1E"/>
                </a:solidFill>
                <a:latin typeface="Calibri"/>
              </a:rPr>
              <a:t>Objetivos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242145" cy="325717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2800" dirty="0" err="1"/>
              <a:t>Diseñar</a:t>
            </a:r>
            <a:r>
              <a:rPr sz="2800" dirty="0"/>
              <a:t> la </a:t>
            </a:r>
            <a:r>
              <a:rPr sz="2800" dirty="0" err="1"/>
              <a:t>cadena</a:t>
            </a:r>
            <a:r>
              <a:rPr sz="2800" dirty="0"/>
              <a:t> completa de </a:t>
            </a:r>
            <a:r>
              <a:rPr sz="2800" dirty="0" err="1"/>
              <a:t>detección</a:t>
            </a:r>
            <a:r>
              <a:rPr sz="2800" dirty="0"/>
              <a:t> de </a:t>
            </a:r>
            <a:r>
              <a:rPr sz="2800" dirty="0" err="1"/>
              <a:t>notas</a:t>
            </a:r>
            <a:r>
              <a:rPr sz="2800" dirty="0"/>
              <a:t> con IMU.</a:t>
            </a:r>
            <a:endParaRPr lang="en-US" sz="2800" dirty="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2800" dirty="0" err="1"/>
              <a:t>Entrenar</a:t>
            </a:r>
            <a:r>
              <a:rPr sz="2800" dirty="0"/>
              <a:t> un </a:t>
            </a:r>
            <a:r>
              <a:rPr sz="2800" dirty="0" err="1"/>
              <a:t>clasificador</a:t>
            </a:r>
            <a:r>
              <a:rPr sz="2800" dirty="0"/>
              <a:t> </a:t>
            </a:r>
            <a:r>
              <a:rPr sz="2800" dirty="0" err="1"/>
              <a:t>multiclase</a:t>
            </a:r>
            <a:r>
              <a:rPr sz="2800" dirty="0"/>
              <a:t> </a:t>
            </a:r>
            <a:r>
              <a:rPr sz="2800" dirty="0" err="1"/>
              <a:t>embebido</a:t>
            </a:r>
            <a:r>
              <a:rPr sz="2800" dirty="0"/>
              <a:t>.</a:t>
            </a:r>
            <a:endParaRPr sz="2800" dirty="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2800" dirty="0" err="1"/>
              <a:t>Clasificar</a:t>
            </a:r>
            <a:r>
              <a:rPr sz="2800" dirty="0"/>
              <a:t> E, A, D, G y </a:t>
            </a:r>
            <a:r>
              <a:rPr sz="2800" dirty="0" err="1"/>
              <a:t>ruido</a:t>
            </a:r>
            <a:r>
              <a:rPr sz="2800" dirty="0"/>
              <a:t>/</a:t>
            </a:r>
            <a:r>
              <a:rPr sz="2800" dirty="0" err="1"/>
              <a:t>silencio</a:t>
            </a:r>
            <a:r>
              <a:rPr sz="2800" dirty="0"/>
              <a:t> </a:t>
            </a:r>
            <a:r>
              <a:rPr sz="2800" dirty="0" err="1"/>
              <a:t>en</a:t>
            </a:r>
            <a:r>
              <a:rPr sz="2800" dirty="0"/>
              <a:t> </a:t>
            </a:r>
            <a:r>
              <a:rPr sz="2800" dirty="0" err="1"/>
              <a:t>tiempo</a:t>
            </a:r>
            <a:r>
              <a:rPr sz="2800" dirty="0"/>
              <a:t> real.</a:t>
            </a:r>
            <a:endParaRPr sz="2800" dirty="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2800" dirty="0" err="1"/>
              <a:t>Incorporar</a:t>
            </a:r>
            <a:r>
              <a:rPr sz="2800" dirty="0"/>
              <a:t> </a:t>
            </a:r>
            <a:r>
              <a:rPr sz="2800" dirty="0" err="1"/>
              <a:t>una</a:t>
            </a:r>
            <a:r>
              <a:rPr sz="2800" dirty="0"/>
              <a:t> </a:t>
            </a:r>
            <a:r>
              <a:rPr sz="2800" dirty="0" err="1"/>
              <a:t>interfaz</a:t>
            </a:r>
            <a:r>
              <a:rPr sz="2800" dirty="0"/>
              <a:t> </a:t>
            </a:r>
            <a:r>
              <a:rPr sz="2800" dirty="0" err="1"/>
              <a:t>autónoma</a:t>
            </a:r>
            <a:r>
              <a:rPr sz="2800" dirty="0"/>
              <a:t> </a:t>
            </a:r>
            <a:r>
              <a:rPr sz="2800" dirty="0" err="1"/>
              <a:t>mediante</a:t>
            </a:r>
            <a:r>
              <a:rPr sz="2800" dirty="0"/>
              <a:t> LED WS2812.</a:t>
            </a:r>
            <a:endParaRPr sz="2800" dirty="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2800" dirty="0" err="1"/>
              <a:t>Estructurar</a:t>
            </a:r>
            <a:r>
              <a:rPr sz="2800" dirty="0"/>
              <a:t> firmware </a:t>
            </a:r>
            <a:r>
              <a:rPr sz="2800" dirty="0" err="1"/>
              <a:t>escalable</a:t>
            </a:r>
            <a:r>
              <a:rPr sz="2800" dirty="0"/>
              <a:t> con </a:t>
            </a:r>
            <a:r>
              <a:rPr sz="2800" dirty="0" err="1"/>
              <a:t>FreeRTOS</a:t>
            </a:r>
            <a:r>
              <a:rPr sz="2800" dirty="0"/>
              <a:t>.</a:t>
            </a:r>
            <a:endParaRPr sz="2800" dirty="0"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680"/>
                </a:solidFill>
                <a:latin typeface="Calibri"/>
              </a:rPr>
              <a:t>aiBass — TFG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1E1E"/>
                </a:solidFill>
                <a:latin typeface="Calibri"/>
              </a:rPr>
              <a:t>Estado del 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8925136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Calibri"/>
              </a:defRPr>
            </a:pPr>
            <a:r>
              <a:rPr dirty="0" err="1"/>
              <a:t>Afinadores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audio: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precisión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sensibles</a:t>
            </a:r>
            <a:r>
              <a:rPr dirty="0"/>
              <a:t> al </a:t>
            </a:r>
            <a:r>
              <a:rPr dirty="0" err="1"/>
              <a:t>entorno</a:t>
            </a:r>
            <a:r>
              <a:rPr dirty="0"/>
              <a:t>.</a:t>
            </a:r>
          </a:p>
          <a:p>
            <a:pPr>
              <a:defRPr sz="2200">
                <a:solidFill>
                  <a:srgbClr val="1E1E1E"/>
                </a:solidFill>
                <a:latin typeface="Calibri"/>
              </a:defRPr>
            </a:pPr>
            <a:r>
              <a:rPr err="1"/>
              <a:t>Trabajos</a:t>
            </a:r>
            <a:r>
              <a:rPr dirty="0"/>
              <a:t> </a:t>
            </a:r>
            <a:r>
              <a:rPr err="1"/>
              <a:t>cercanos</a:t>
            </a:r>
            <a:r>
              <a:rPr dirty="0"/>
              <a:t> con IA </a:t>
            </a:r>
            <a:r>
              <a:rPr lang="en-GB" err="1"/>
              <a:t>embebida</a:t>
            </a:r>
            <a:r>
              <a:rPr dirty="0"/>
              <a:t> y </a:t>
            </a:r>
            <a:r>
              <a:rPr err="1"/>
              <a:t>sensores</a:t>
            </a:r>
            <a:r>
              <a:rPr dirty="0"/>
              <a:t>: </a:t>
            </a:r>
            <a:r>
              <a:rPr err="1"/>
              <a:t>foco</a:t>
            </a:r>
            <a:r>
              <a:rPr dirty="0"/>
              <a:t> </a:t>
            </a:r>
            <a:r>
              <a:rPr err="1"/>
              <a:t>en</a:t>
            </a:r>
            <a:r>
              <a:rPr dirty="0"/>
              <a:t> </a:t>
            </a:r>
            <a:r>
              <a:rPr err="1"/>
              <a:t>clasificación</a:t>
            </a:r>
            <a:r>
              <a:rPr dirty="0"/>
              <a:t> </a:t>
            </a:r>
            <a:r>
              <a:rPr err="1"/>
              <a:t>discreta</a:t>
            </a:r>
            <a:r>
              <a:rPr dirty="0"/>
              <a:t>.</a:t>
            </a:r>
          </a:p>
          <a:p>
            <a:pPr>
              <a:defRPr sz="2200">
                <a:solidFill>
                  <a:srgbClr val="1E1E1E"/>
                </a:solidFill>
                <a:latin typeface="Calibri"/>
              </a:defRPr>
            </a:pPr>
            <a:endParaRPr lang="en-GB" dirty="0"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0789920" cy="1097280"/>
          </a:xfrm>
          <a:prstGeom prst="rect">
            <a:avLst/>
          </a:prstGeom>
          <a:solidFill>
            <a:srgbClr val="E8F8F4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1024128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Aportación diferencial</a:t>
            </a: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t>Vía alternativa: vibración mecánica + IA embebida con salida autónoma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680"/>
                </a:solidFill>
                <a:latin typeface="Calibri"/>
              </a:rPr>
              <a:t>aiBass — TFG</a:t>
            </a:r>
          </a:p>
        </p:txBody>
      </p:sp>
      <p:pic>
        <p:nvPicPr>
          <p:cNvPr id="9" name="Picture 8" descr="A circuit board with wires and a display&#10;&#10;AI-generated content may be incorrect.">
            <a:extLst>
              <a:ext uri="{FF2B5EF4-FFF2-40B4-BE49-F238E27FC236}">
                <a16:creationId xmlns:a16="http://schemas.microsoft.com/office/drawing/2014/main" id="{031F4D50-0958-21C0-5B70-557EAA550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66" y="2325812"/>
            <a:ext cx="1960545" cy="20950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1A9530-D96E-D466-8E5A-88E03ECBD9FC}"/>
              </a:ext>
            </a:extLst>
          </p:cNvPr>
          <p:cNvSpPr txBox="1"/>
          <p:nvPr/>
        </p:nvSpPr>
        <p:spPr>
          <a:xfrm>
            <a:off x="826015" y="4571196"/>
            <a:ext cx="1951736" cy="285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b="1" dirty="0">
                <a:solidFill>
                  <a:schemeClr val="tx1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TFG </a:t>
            </a:r>
            <a:r>
              <a:rPr lang="en-GB" sz="1200" b="1" dirty="0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Irene Romero </a:t>
            </a:r>
            <a:r>
              <a:rPr lang="en-GB" sz="1200" b="1" dirty="0" err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Romero</a:t>
            </a:r>
            <a:endParaRPr lang="en-GB" sz="1200" b="1" dirty="0">
              <a:solidFill>
                <a:schemeClr val="tx1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CE2729-581C-89B8-8F07-67C6AB6C3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6087" y="2326026"/>
            <a:ext cx="4815691" cy="2711094"/>
          </a:xfrm>
          <a:prstGeom prst="rect">
            <a:avLst/>
          </a:prstGeom>
        </p:spPr>
      </p:pic>
      <p:pic>
        <p:nvPicPr>
          <p:cNvPr id="14" name="Picture 13" descr="A close up of a device&#10;&#10;AI-generated content may be incorrect.">
            <a:extLst>
              <a:ext uri="{FF2B5EF4-FFF2-40B4-BE49-F238E27FC236}">
                <a16:creationId xmlns:a16="http://schemas.microsoft.com/office/drawing/2014/main" id="{E1CF93B6-E1F1-D346-8667-D23E70B25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205" y="2328809"/>
            <a:ext cx="1635232" cy="208907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8A9D4B-DEA3-61A6-EF7C-8FA88D631A84}"/>
              </a:ext>
            </a:extLst>
          </p:cNvPr>
          <p:cNvSpPr txBox="1"/>
          <p:nvPr/>
        </p:nvSpPr>
        <p:spPr>
          <a:xfrm>
            <a:off x="3882576" y="4571195"/>
            <a:ext cx="1951736" cy="285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200" b="1" err="1">
                <a:solidFill>
                  <a:schemeClr val="tx1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aiBass</a:t>
            </a:r>
            <a:endParaRPr lang="en-GB" sz="1200" b="1" dirty="0" err="1">
              <a:solidFill>
                <a:schemeClr val="tx1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1E1E"/>
                </a:solidFill>
                <a:latin typeface="Calibri"/>
              </a:rPr>
              <a:t>Tecnologías y arquitectura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4507196" cy="970692"/>
          </a:xfrm>
          <a:prstGeom prst="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754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STM32L4</a:t>
            </a: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t>MCU Cortex‑M4 en kit Discovery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303520" cy="1828800"/>
          </a:xfrm>
          <a:prstGeom prst="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04093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LSM6DSL</a:t>
            </a: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t>IMU 6 ejes integrada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4507196" cy="970692"/>
          </a:xfrm>
          <a:prstGeom prst="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4754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NanoEdge AI</a:t>
            </a: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t>Clasificador embebido multiclase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566160"/>
            <a:ext cx="4507196" cy="970692"/>
          </a:xfrm>
          <a:prstGeom prst="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3749039"/>
            <a:ext cx="4754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FreeRTOS</a:t>
            </a: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t>Tareas + eventos para escalabilidad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264252"/>
            <a:ext cx="4507196" cy="970692"/>
          </a:xfrm>
          <a:prstGeom prst="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5447132"/>
            <a:ext cx="395169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WS2812</a:t>
            </a: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t>Salida visual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680"/>
                </a:solidFill>
                <a:latin typeface="Calibri"/>
              </a:rPr>
              <a:t>aiBass — TFG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1E1E"/>
                </a:solidFill>
                <a:latin typeface="Calibri"/>
              </a:rPr>
              <a:t>Flujo funcional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4196" y="2368878"/>
            <a:ext cx="2134970" cy="811659"/>
          </a:xfrm>
          <a:prstGeom prst="roundRect">
            <a:avLst/>
          </a:prstGeom>
          <a:solidFill>
            <a:srgbClr val="E6ECF8"/>
          </a:solidFill>
          <a:ln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1E1E"/>
                </a:solidFill>
                <a:latin typeface="Calibri"/>
              </a:defRPr>
            </a:pPr>
            <a:r>
              <a:t>Captura IMU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79" y="2606040"/>
            <a:ext cx="548640" cy="457200"/>
          </a:xfrm>
          <a:prstGeom prst="rightArrow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37396" y="2368878"/>
            <a:ext cx="2134970" cy="811659"/>
          </a:xfrm>
          <a:prstGeom prst="roundRect">
            <a:avLst/>
          </a:prstGeom>
          <a:solidFill>
            <a:srgbClr val="E6ECF8"/>
          </a:solidFill>
          <a:ln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1E1E"/>
                </a:solidFill>
                <a:latin typeface="Calibri"/>
              </a:defRPr>
            </a:pPr>
            <a:r>
              <a:t>Preprocesado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97879" y="2606040"/>
            <a:ext cx="548640" cy="457200"/>
          </a:xfrm>
          <a:prstGeom prst="rightArrow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80596" y="2368878"/>
            <a:ext cx="2134970" cy="811659"/>
          </a:xfrm>
          <a:prstGeom prst="roundRect">
            <a:avLst/>
          </a:prstGeom>
          <a:solidFill>
            <a:srgbClr val="E6ECF8"/>
          </a:solidFill>
          <a:ln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1E1E"/>
                </a:solidFill>
                <a:latin typeface="Calibri"/>
              </a:defRPr>
            </a:pPr>
            <a:r>
              <a:t>Clasificación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41080" y="2606040"/>
            <a:ext cx="548640" cy="457200"/>
          </a:xfrm>
          <a:prstGeom prst="rightArrow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223796" y="2368878"/>
            <a:ext cx="2134970" cy="811659"/>
          </a:xfrm>
          <a:prstGeom prst="roundRect">
            <a:avLst/>
          </a:prstGeom>
          <a:solidFill>
            <a:srgbClr val="E6ECF8"/>
          </a:solidFill>
          <a:ln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1E1E"/>
                </a:solidFill>
                <a:latin typeface="Calibri"/>
              </a:defRPr>
            </a:pPr>
            <a:r>
              <a:t>Salida UART + 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8070030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Calibri"/>
              </a:defRPr>
            </a:pPr>
            <a:r>
              <a:rPr dirty="0" err="1"/>
              <a:t>Orquestación</a:t>
            </a:r>
            <a:r>
              <a:rPr dirty="0"/>
              <a:t> con </a:t>
            </a:r>
            <a:r>
              <a:rPr dirty="0" err="1"/>
              <a:t>FreeRTOS</a:t>
            </a:r>
            <a:r>
              <a:rPr dirty="0"/>
              <a:t> para </a:t>
            </a:r>
            <a:r>
              <a:rPr dirty="0" err="1"/>
              <a:t>desacoplar</a:t>
            </a:r>
            <a:r>
              <a:rPr dirty="0"/>
              <a:t> </a:t>
            </a:r>
            <a:r>
              <a:rPr dirty="0" err="1"/>
              <a:t>adquisición</a:t>
            </a:r>
            <a:r>
              <a:rPr dirty="0"/>
              <a:t> e </a:t>
            </a:r>
            <a:r>
              <a:rPr dirty="0" err="1"/>
              <a:t>inferencia</a:t>
            </a:r>
            <a:r>
              <a:rPr dirty="0"/>
              <a:t>.</a:t>
            </a:r>
          </a:p>
          <a:p>
            <a:pPr>
              <a:defRPr sz="2200">
                <a:solidFill>
                  <a:srgbClr val="1E1E1E"/>
                </a:solidFill>
                <a:latin typeface="Calibri"/>
              </a:defRPr>
            </a:pPr>
            <a:endParaRPr lang="en-GB" dirty="0"/>
          </a:p>
          <a:p>
            <a:pPr>
              <a:defRPr sz="2200">
                <a:solidFill>
                  <a:srgbClr val="1E1E1E"/>
                </a:solidFill>
                <a:latin typeface="Calibri"/>
              </a:defRPr>
            </a:pPr>
            <a:r>
              <a:rPr b="1" dirty="0" err="1"/>
              <a:t>Limitación</a:t>
            </a:r>
            <a:r>
              <a:rPr b="1" dirty="0"/>
              <a:t> actual</a:t>
            </a:r>
            <a:r>
              <a:rPr dirty="0"/>
              <a:t>: </a:t>
            </a:r>
            <a:r>
              <a:rPr dirty="0" err="1"/>
              <a:t>clasificación</a:t>
            </a:r>
            <a:r>
              <a:rPr dirty="0"/>
              <a:t> </a:t>
            </a:r>
            <a:r>
              <a:rPr dirty="0" err="1"/>
              <a:t>discreta</a:t>
            </a:r>
            <a:r>
              <a:rPr dirty="0"/>
              <a:t> (sin </a:t>
            </a:r>
            <a:r>
              <a:rPr dirty="0" err="1"/>
              <a:t>centésimas</a:t>
            </a:r>
            <a:r>
              <a:rPr dirty="0"/>
              <a:t>).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680"/>
                </a:solidFill>
                <a:latin typeface="Calibri"/>
              </a:rPr>
              <a:t>aiBass — TFG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736F-D3E9-8383-38D7-9934E5492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3C6F8E-7E76-758F-2DAF-2BBFBECF4F3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6B971B-6665-0377-3602-088E90104197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1027DC-3E2A-C1AF-85BA-72C67E17C10B}"/>
              </a:ext>
            </a:extLst>
          </p:cNvPr>
          <p:cNvSpPr txBox="1"/>
          <p:nvPr/>
        </p:nvSpPr>
        <p:spPr>
          <a:xfrm>
            <a:off x="548640" y="320040"/>
            <a:ext cx="3906839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3000" b="1" dirty="0" err="1">
                <a:solidFill>
                  <a:srgbClr val="1E1E1E"/>
                </a:solidFill>
                <a:latin typeface="Calibri"/>
              </a:rPr>
              <a:t>Flujo</a:t>
            </a:r>
            <a:r>
              <a:rPr sz="3000" b="1" dirty="0">
                <a:solidFill>
                  <a:srgbClr val="1E1E1E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E1E1E"/>
                </a:solidFill>
                <a:latin typeface="Calibri"/>
              </a:rPr>
              <a:t>funcional</a:t>
            </a:r>
            <a:r>
              <a:rPr lang="en-GB" sz="3000" b="1" dirty="0">
                <a:solidFill>
                  <a:srgbClr val="1E1E1E"/>
                </a:solidFill>
                <a:latin typeface="Calibri"/>
              </a:rPr>
              <a:t> (</a:t>
            </a:r>
            <a:r>
              <a:rPr lang="en-GB" sz="3000" b="1" dirty="0" err="1">
                <a:solidFill>
                  <a:srgbClr val="1E1E1E"/>
                </a:solidFill>
                <a:latin typeface="Calibri"/>
              </a:rPr>
              <a:t>vídeos</a:t>
            </a:r>
            <a:r>
              <a:rPr lang="en-GB" sz="3000" b="1" dirty="0">
                <a:solidFill>
                  <a:srgbClr val="1E1E1E"/>
                </a:solidFill>
                <a:latin typeface="Calibri"/>
              </a:rPr>
              <a:t>)</a:t>
            </a:r>
            <a:endParaRPr sz="3000" b="1" dirty="0">
              <a:solidFill>
                <a:srgbClr val="1E1E1E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CE0FAA-DFBE-7C4B-3D46-B57D5F4C0506}"/>
              </a:ext>
            </a:extLst>
          </p:cNvPr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680"/>
                </a:solidFill>
                <a:latin typeface="Calibri"/>
              </a:rPr>
              <a:t>aiBass — TFG</a:t>
            </a:r>
          </a:p>
        </p:txBody>
      </p:sp>
      <p:pic>
        <p:nvPicPr>
          <p:cNvPr id="14" name="Online Media 13" title="tuner2.mp4">
            <a:hlinkClick r:id="" action="ppaction://noaction"/>
            <a:extLst>
              <a:ext uri="{FF2B5EF4-FFF2-40B4-BE49-F238E27FC236}">
                <a16:creationId xmlns:a16="http://schemas.microsoft.com/office/drawing/2014/main" id="{791B0B25-EA08-B78B-BB6A-3ED66946F4F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982680" y="874160"/>
            <a:ext cx="2889179" cy="5135367"/>
          </a:xfrm>
          <a:prstGeom prst="rect">
            <a:avLst/>
          </a:prstGeom>
        </p:spPr>
      </p:pic>
      <p:pic>
        <p:nvPicPr>
          <p:cNvPr id="15" name="Online Media 14" title="tuner1.mp4">
            <a:hlinkClick r:id="" action="ppaction://noaction"/>
            <a:extLst>
              <a:ext uri="{FF2B5EF4-FFF2-40B4-BE49-F238E27FC236}">
                <a16:creationId xmlns:a16="http://schemas.microsoft.com/office/drawing/2014/main" id="{2E9B7AFC-CE04-7486-11E6-9D6471FF2868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6"/>
          <a:stretch>
            <a:fillRect/>
          </a:stretch>
        </p:blipFill>
        <p:spPr>
          <a:xfrm>
            <a:off x="4706403" y="1584789"/>
            <a:ext cx="6649128" cy="372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12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1E1E"/>
                </a:solidFill>
                <a:latin typeface="Calibri"/>
              </a:rPr>
              <a:t>Firmware y RTOS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9535687" cy="26108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2800" dirty="0"/>
              <a:t>Tareas </a:t>
            </a:r>
            <a:r>
              <a:rPr sz="2800" dirty="0" err="1"/>
              <a:t>principales</a:t>
            </a:r>
            <a:r>
              <a:rPr sz="2800" dirty="0"/>
              <a:t>: </a:t>
            </a:r>
            <a:r>
              <a:rPr sz="2800" dirty="0" err="1"/>
              <a:t>adquisición</a:t>
            </a:r>
            <a:r>
              <a:rPr sz="2800" dirty="0"/>
              <a:t> de </a:t>
            </a:r>
            <a:r>
              <a:rPr sz="2800" dirty="0" err="1"/>
              <a:t>ventana</a:t>
            </a:r>
            <a:r>
              <a:rPr sz="2800" dirty="0"/>
              <a:t>, </a:t>
            </a:r>
            <a:r>
              <a:rPr sz="2800" dirty="0" err="1"/>
              <a:t>clasificación</a:t>
            </a:r>
            <a:r>
              <a:rPr sz="2800" dirty="0"/>
              <a:t> y LED.</a:t>
            </a:r>
            <a:endParaRPr lang="en-US" sz="2800" dirty="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2800" b="1" dirty="0" err="1"/>
              <a:t>Sincronización</a:t>
            </a:r>
            <a:r>
              <a:rPr sz="2800" b="1" dirty="0"/>
              <a:t> </a:t>
            </a:r>
            <a:r>
              <a:rPr sz="2800" dirty="0" err="1"/>
              <a:t>por</a:t>
            </a:r>
            <a:r>
              <a:rPr sz="2800" dirty="0"/>
              <a:t> flags y mutex para buffers </a:t>
            </a:r>
            <a:r>
              <a:rPr sz="2800" dirty="0" err="1"/>
              <a:t>compartidos</a:t>
            </a:r>
            <a:r>
              <a:rPr sz="2800" dirty="0"/>
              <a:t>.</a:t>
            </a:r>
            <a:endParaRPr sz="2800" dirty="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2800" dirty="0"/>
              <a:t>UART </a:t>
            </a:r>
            <a:r>
              <a:rPr sz="2800" dirty="0" err="1"/>
              <a:t>protegido</a:t>
            </a:r>
            <a:r>
              <a:rPr sz="2800" dirty="0"/>
              <a:t> para </a:t>
            </a:r>
            <a:r>
              <a:rPr sz="2800" dirty="0" err="1"/>
              <a:t>evitar</a:t>
            </a:r>
            <a:r>
              <a:rPr sz="2800" dirty="0"/>
              <a:t> </a:t>
            </a:r>
            <a:r>
              <a:rPr sz="2800" dirty="0" err="1"/>
              <a:t>colisiones</a:t>
            </a:r>
            <a:r>
              <a:rPr sz="2800" dirty="0"/>
              <a:t> entre </a:t>
            </a:r>
            <a:r>
              <a:rPr sz="2800" dirty="0" err="1"/>
              <a:t>tareas</a:t>
            </a:r>
            <a:r>
              <a:rPr sz="2800" dirty="0"/>
              <a:t>.</a:t>
            </a:r>
            <a:endParaRPr sz="2800" dirty="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sz="2800" dirty="0"/>
              <a:t>Driver WS2812 </a:t>
            </a:r>
            <a:r>
              <a:rPr sz="2800" dirty="0" err="1"/>
              <a:t>adaptado</a:t>
            </a:r>
            <a:r>
              <a:rPr sz="2800" dirty="0"/>
              <a:t> a </a:t>
            </a:r>
            <a:r>
              <a:rPr sz="2800" dirty="0" err="1"/>
              <a:t>FreeRTOS</a:t>
            </a:r>
            <a:r>
              <a:rPr sz="2800" dirty="0"/>
              <a:t> (DMA + </a:t>
            </a:r>
            <a:r>
              <a:rPr sz="2800" dirty="0" err="1"/>
              <a:t>semáforos</a:t>
            </a:r>
            <a:r>
              <a:rPr sz="2800" dirty="0"/>
              <a:t>).</a:t>
            </a:r>
            <a:endParaRPr sz="2800" dirty="0"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solidFill>
            <a:srgbClr val="E8F8F4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996696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Nota</a:t>
            </a: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t>Se reutilizó y adaptó el driver de IMU/WS2812 del profesor a FreeRTOS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680"/>
                </a:solidFill>
                <a:latin typeface="Calibri"/>
              </a:rPr>
              <a:t>aiBass — TFG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1E1E"/>
                </a:solidFill>
                <a:latin typeface="Calibri"/>
              </a:rPr>
              <a:t>IA embebida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2786352" cy="1954487"/>
          </a:xfrm>
          <a:prstGeom prst="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2239716" cy="160043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Dataset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 dirty="0"/>
              <a:t>E: 100 </a:t>
            </a:r>
            <a:r>
              <a:rPr lang="en-GB" dirty="0" err="1"/>
              <a:t>ventanas</a:t>
            </a:r>
            <a:endParaRPr lang="en-GB" dirty="0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 dirty="0">
                <a:ea typeface="Calibri"/>
                <a:cs typeface="Calibri"/>
              </a:rPr>
              <a:t>A: 100 </a:t>
            </a:r>
            <a:r>
              <a:rPr lang="en-GB" dirty="0" err="1">
                <a:ea typeface="Calibri"/>
                <a:cs typeface="Calibri"/>
              </a:rPr>
              <a:t>ventanas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 dirty="0">
                <a:ea typeface="Calibri"/>
                <a:cs typeface="Calibri"/>
              </a:rPr>
              <a:t>D: 100 </a:t>
            </a:r>
            <a:r>
              <a:rPr lang="en-GB" dirty="0" err="1">
                <a:ea typeface="Calibri"/>
                <a:cs typeface="Calibri"/>
              </a:rPr>
              <a:t>ventanas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 dirty="0">
                <a:ea typeface="Calibri"/>
                <a:cs typeface="Calibri"/>
              </a:rPr>
              <a:t>G: 100 </a:t>
            </a:r>
            <a:r>
              <a:rPr lang="en-GB" dirty="0" err="1">
                <a:ea typeface="Calibri"/>
                <a:cs typeface="Calibri"/>
              </a:rPr>
              <a:t>ventanas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 dirty="0">
                <a:ea typeface="Calibri"/>
                <a:cs typeface="Calibri"/>
              </a:rPr>
              <a:t>RUIDO: 150 </a:t>
            </a:r>
            <a:r>
              <a:rPr lang="en-GB" dirty="0" err="1">
                <a:ea typeface="Calibri"/>
                <a:cs typeface="Calibri"/>
              </a:rPr>
              <a:t>ventanas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68574" y="1463040"/>
            <a:ext cx="6869986" cy="1945925"/>
          </a:xfrm>
          <a:prstGeom prst="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79882" y="1645920"/>
            <a:ext cx="1157112" cy="135421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Pipeline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>
                <a:ea typeface="Calibri"/>
                <a:cs typeface="Calibri"/>
              </a:rPr>
              <a:t>Detrend</a:t>
            </a:r>
            <a:endParaRPr lang="en-GB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>
                <a:ea typeface="Calibri"/>
                <a:cs typeface="Calibri"/>
              </a:rPr>
              <a:t>STFT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>
                <a:ea typeface="Calibri"/>
                <a:cs typeface="Calibri"/>
              </a:rPr>
              <a:t>PCA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>
                <a:ea typeface="Calibri"/>
                <a:cs typeface="Calibri"/>
              </a:rPr>
              <a:t>SVM</a:t>
            </a:r>
            <a:endParaRPr lang="en-GB" dirty="0">
              <a:ea typeface="Calibri"/>
              <a:cs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3749039"/>
            <a:ext cx="1051560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6043065" cy="184665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rPr dirty="0" err="1"/>
              <a:t>Rendimiento</a:t>
            </a:r>
            <a:endParaRPr lang="en-US" dirty="0" err="1">
              <a:ea typeface="Calibri"/>
              <a:cs typeface="Calibri"/>
            </a:endParaRP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US" dirty="0">
                <a:ea typeface="+mn-lt"/>
                <a:cs typeface="+mn-lt"/>
              </a:rPr>
              <a:t>• Tipo de </a:t>
            </a:r>
            <a:r>
              <a:rPr lang="en-US" dirty="0" err="1">
                <a:ea typeface="+mn-lt"/>
                <a:cs typeface="+mn-lt"/>
              </a:rPr>
              <a:t>modelo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Clasificación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multiclase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US" dirty="0">
                <a:ea typeface="+mn-lt"/>
                <a:cs typeface="+mn-lt"/>
              </a:rPr>
              <a:t>• </a:t>
            </a:r>
            <a:r>
              <a:rPr lang="en-US" dirty="0" err="1">
                <a:ea typeface="+mn-lt"/>
                <a:cs typeface="+mn-lt"/>
              </a:rPr>
              <a:t>Clases</a:t>
            </a:r>
            <a:r>
              <a:rPr lang="en-US" dirty="0">
                <a:ea typeface="+mn-lt"/>
                <a:cs typeface="+mn-lt"/>
              </a:rPr>
              <a:t>: E, A, D, G y </a:t>
            </a:r>
            <a:r>
              <a:rPr lang="en-US" dirty="0" err="1">
                <a:ea typeface="+mn-lt"/>
                <a:cs typeface="+mn-lt"/>
              </a:rPr>
              <a:t>ruido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silencio</a:t>
            </a:r>
            <a:r>
              <a:rPr lang="en-US" dirty="0">
                <a:ea typeface="+mn-lt"/>
                <a:cs typeface="+mn-lt"/>
              </a:rPr>
              <a:t>.</a:t>
            </a:r>
            <a:endParaRPr lang="en-GB" dirty="0"/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US" dirty="0">
                <a:ea typeface="+mn-lt"/>
                <a:cs typeface="+mn-lt"/>
              </a:rPr>
              <a:t>• </a:t>
            </a:r>
            <a:r>
              <a:rPr lang="en-US" dirty="0" err="1">
                <a:ea typeface="+mn-lt"/>
                <a:cs typeface="+mn-lt"/>
              </a:rPr>
              <a:t>Precisión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balanceada</a:t>
            </a:r>
            <a:r>
              <a:rPr lang="en-US" dirty="0">
                <a:ea typeface="+mn-lt"/>
                <a:cs typeface="+mn-lt"/>
              </a:rPr>
              <a:t>: 97.48% (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entorno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controlado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validación</a:t>
            </a:r>
            <a:r>
              <a:rPr lang="en-US" dirty="0">
                <a:ea typeface="+mn-lt"/>
                <a:cs typeface="+mn-lt"/>
              </a:rPr>
              <a:t>).</a:t>
            </a: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US" b="1" dirty="0">
                <a:ea typeface="Calibri"/>
                <a:cs typeface="Calibri"/>
              </a:rPr>
              <a:t>• </a:t>
            </a:r>
            <a:r>
              <a:rPr lang="en-US" b="1" dirty="0" err="1">
                <a:ea typeface="Calibri"/>
                <a:cs typeface="Calibri"/>
              </a:rPr>
              <a:t>Latencia</a:t>
            </a:r>
            <a:r>
              <a:rPr lang="en-US" b="1" dirty="0">
                <a:ea typeface="Calibri"/>
                <a:cs typeface="Calibri"/>
              </a:rPr>
              <a:t>: 0.4ms</a:t>
            </a:r>
            <a:endParaRPr lang="en-GB" b="1" dirty="0">
              <a:ea typeface="Calibri"/>
              <a:cs typeface="Calibri"/>
            </a:endParaRP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US" b="1">
                <a:ea typeface="Calibri"/>
                <a:cs typeface="Calibri"/>
              </a:rPr>
              <a:t>• Memoria Flash: 2.10 KB</a:t>
            </a:r>
            <a:endParaRPr lang="en-GB" b="1">
              <a:ea typeface="Calibri"/>
              <a:cs typeface="Calibri"/>
            </a:endParaRP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US" b="1">
                <a:ea typeface="Calibri"/>
                <a:cs typeface="Calibri"/>
              </a:rPr>
              <a:t>• Memoria RAM: 2.30 KB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680"/>
                </a:solidFill>
                <a:latin typeface="Calibri"/>
              </a:rPr>
              <a:t>aiBass — TFG</a:t>
            </a:r>
          </a:p>
        </p:txBody>
      </p:sp>
      <p:pic>
        <p:nvPicPr>
          <p:cNvPr id="12" name="Picture 11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67A67E96-D234-9D7E-7C3B-2DE798214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34" y="1461671"/>
            <a:ext cx="4888788" cy="19483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B3CB89-FA1B-B68A-0C71-E54986A18963}"/>
              </a:ext>
            </a:extLst>
          </p:cNvPr>
          <p:cNvSpPr txBox="1"/>
          <p:nvPr/>
        </p:nvSpPr>
        <p:spPr>
          <a:xfrm>
            <a:off x="5458898" y="5251953"/>
            <a:ext cx="315660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6E7680"/>
                </a:solidFill>
                <a:ea typeface="Calibri"/>
                <a:cs typeface="Calibri"/>
              </a:rPr>
              <a:t>¡MUY LIGERO!</a:t>
            </a:r>
            <a:endParaRPr lang="en-US" b="1">
              <a:ea typeface="Calibri"/>
              <a:cs typeface="Calibri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E7B369-E5D5-C91D-BD40-D5C044325F1B}"/>
              </a:ext>
            </a:extLst>
          </p:cNvPr>
          <p:cNvCxnSpPr/>
          <p:nvPr/>
        </p:nvCxnSpPr>
        <p:spPr>
          <a:xfrm flipH="1" flipV="1">
            <a:off x="3605266" y="5364714"/>
            <a:ext cx="1868183" cy="273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1E1E"/>
                </a:solidFill>
                <a:latin typeface="Calibri"/>
              </a:rPr>
              <a:t>Interfaz autónoma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5669280" cy="2011680"/>
          </a:xfrm>
          <a:prstGeom prst="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>
            <a:spLocks noChangeAspect="1"/>
          </p:cNvSpPr>
          <p:nvPr/>
        </p:nvSpPr>
        <p:spPr>
          <a:xfrm>
            <a:off x="1097280" y="1645920"/>
            <a:ext cx="1752083" cy="160043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UART</a:t>
            </a: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 dirty="0">
                <a:ea typeface="Calibri"/>
                <a:cs typeface="Calibri"/>
              </a:rPr>
              <a:t>Logging </a:t>
            </a:r>
            <a:r>
              <a:rPr lang="en-GB" dirty="0" err="1">
                <a:ea typeface="Calibri"/>
                <a:cs typeface="Calibri"/>
              </a:rPr>
              <a:t>básico</a:t>
            </a:r>
            <a:endParaRPr lang="en-GB" dirty="0">
              <a:ea typeface="Calibri"/>
              <a:cs typeface="Calibri"/>
            </a:endParaRP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endParaRPr lang="en-GB" dirty="0">
              <a:ea typeface="Calibri"/>
              <a:cs typeface="Calibri"/>
            </a:endParaRP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 dirty="0">
                <a:ea typeface="Calibri"/>
                <a:cs typeface="Calibri"/>
              </a:rPr>
              <a:t>Con </a:t>
            </a:r>
            <a:r>
              <a:rPr lang="en-GB" dirty="0" err="1">
                <a:ea typeface="Calibri"/>
                <a:cs typeface="Calibri"/>
              </a:rPr>
              <a:t>posibilidad</a:t>
            </a:r>
            <a:endParaRPr lang="en-GB" dirty="0">
              <a:ea typeface="Calibri"/>
              <a:cs typeface="Calibri"/>
            </a:endParaRP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 dirty="0">
                <a:ea typeface="Calibri"/>
                <a:cs typeface="Calibri"/>
              </a:rPr>
              <a:t>de </a:t>
            </a:r>
            <a:r>
              <a:rPr lang="en-GB" dirty="0" err="1">
                <a:ea typeface="Calibri"/>
                <a:cs typeface="Calibri"/>
              </a:rPr>
              <a:t>ampliación</a:t>
            </a:r>
            <a:endParaRPr lang="en-GB" dirty="0">
              <a:ea typeface="Calibri"/>
              <a:cs typeface="Calibri"/>
            </a:endParaRP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 dirty="0">
                <a:ea typeface="Calibri"/>
                <a:cs typeface="Calibri"/>
              </a:rPr>
              <a:t>gracias a </a:t>
            </a:r>
            <a:r>
              <a:rPr lang="en-GB" dirty="0" err="1">
                <a:ea typeface="Calibri"/>
                <a:cs typeface="Calibri"/>
              </a:rPr>
              <a:t>FreeRTOS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463040"/>
            <a:ext cx="4663440" cy="4871319"/>
          </a:xfrm>
          <a:prstGeom prst="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0" y="1645920"/>
            <a:ext cx="3258393" cy="86177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WS2812</a:t>
            </a: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rPr dirty="0"/>
              <a:t>Feedback local de nota y </a:t>
            </a:r>
            <a:r>
              <a:rPr dirty="0" err="1"/>
              <a:t>ruido</a:t>
            </a:r>
            <a:r>
              <a:rPr dirty="0"/>
              <a:t> sin PC</a:t>
            </a:r>
            <a:endParaRPr dirty="0">
              <a:ea typeface="Calibri"/>
              <a:cs typeface="Calibri"/>
            </a:endParaRP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endParaRPr lang="en-GB" dirty="0"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56699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Calibri"/>
              </a:defRPr>
            </a:pPr>
            <a:r>
              <a:t>Código de color por nota (E/A/D/G).</a:t>
            </a:r>
          </a:p>
          <a:p>
            <a:pPr>
              <a:defRPr sz="2200">
                <a:solidFill>
                  <a:srgbClr val="1E1E1E"/>
                </a:solidFill>
                <a:latin typeface="Calibri"/>
              </a:defRPr>
            </a:pPr>
            <a:r>
              <a:t>Rojo para ruido/silencio.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680"/>
                </a:solidFill>
                <a:latin typeface="Calibri"/>
              </a:rPr>
              <a:t>aiBass — TFG</a:t>
            </a:r>
          </a:p>
        </p:txBody>
      </p:sp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43C9289-2513-CE94-D689-D2955664B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435" y="1736600"/>
            <a:ext cx="3238500" cy="1552575"/>
          </a:xfrm>
          <a:prstGeom prst="rect">
            <a:avLst/>
          </a:prstGeom>
        </p:spPr>
      </p:pic>
      <p:pic>
        <p:nvPicPr>
          <p:cNvPr id="14" name="Picture 13" descr="A circuit board with red lights&#10;&#10;AI-generated content may be incorrect.">
            <a:extLst>
              <a:ext uri="{FF2B5EF4-FFF2-40B4-BE49-F238E27FC236}">
                <a16:creationId xmlns:a16="http://schemas.microsoft.com/office/drawing/2014/main" id="{4F9077B2-1E2D-EDF1-4606-71148DE9D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923" y="2620552"/>
            <a:ext cx="2078806" cy="1865190"/>
          </a:xfrm>
          <a:prstGeom prst="rect">
            <a:avLst/>
          </a:prstGeom>
        </p:spPr>
      </p:pic>
      <p:pic>
        <p:nvPicPr>
          <p:cNvPr id="15" name="Picture 14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20E79B54-929F-002E-521E-AC2CA1469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3418" y="2620552"/>
            <a:ext cx="2053120" cy="18651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A86061E-FD49-90E7-0D36-3C52356ED8A6}"/>
              </a:ext>
            </a:extLst>
          </p:cNvPr>
          <p:cNvSpPr txBox="1"/>
          <p:nvPr/>
        </p:nvSpPr>
        <p:spPr>
          <a:xfrm>
            <a:off x="7387620" y="4594690"/>
            <a:ext cx="90936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>
                <a:solidFill>
                  <a:srgbClr val="6E7680"/>
                </a:solidFill>
                <a:ea typeface="Calibri"/>
                <a:cs typeface="Calibri"/>
              </a:rPr>
              <a:t>NOISE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FC3B5B-1FBC-4EEC-0E83-C12543D504E4}"/>
              </a:ext>
            </a:extLst>
          </p:cNvPr>
          <p:cNvSpPr txBox="1"/>
          <p:nvPr/>
        </p:nvSpPr>
        <p:spPr>
          <a:xfrm>
            <a:off x="9450564" y="4592551"/>
            <a:ext cx="150235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>
                <a:solidFill>
                  <a:srgbClr val="6E7680"/>
                </a:solidFill>
                <a:ea typeface="Calibri"/>
                <a:cs typeface="Calibri"/>
              </a:rPr>
              <a:t>NOTA VÁLIDA</a:t>
            </a:r>
            <a:endParaRPr lang="en-US" sz="1600" b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1E1E"/>
                </a:solidFill>
                <a:latin typeface="Calibri"/>
              </a:rPr>
              <a:t>Planificación y costes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5212080" cy="2194560"/>
          </a:xfrm>
          <a:prstGeom prst="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663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Dedicación</a:t>
            </a: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t>≈300 h totales · ~100 h explorando Rust + Embassy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120640" cy="2194560"/>
          </a:xfrm>
          <a:prstGeom prst="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3135923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Costes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/>
              <a:t>Coste personal: 4200</a:t>
            </a:r>
            <a:r>
              <a:rPr lang="en-GB">
                <a:ea typeface="+mn-lt"/>
                <a:cs typeface="+mn-lt"/>
              </a:rPr>
              <a:t>€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>
                <a:ea typeface="Calibri"/>
                <a:cs typeface="Calibri"/>
              </a:rPr>
              <a:t>Coste material: 60</a:t>
            </a:r>
            <a:r>
              <a:rPr lang="en-GB">
                <a:ea typeface="+mn-lt"/>
                <a:cs typeface="+mn-lt"/>
              </a:rPr>
              <a:t>€</a:t>
            </a:r>
            <a:endParaRPr lang="en-GB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6E7680"/>
                </a:solidFill>
                <a:latin typeface="Calibri"/>
              </a:defRPr>
            </a:pPr>
            <a:r>
              <a:rPr lang="en-GB" dirty="0">
                <a:ea typeface="+mn-lt"/>
                <a:cs typeface="+mn-lt"/>
              </a:rPr>
              <a:t>Coste total del </a:t>
            </a:r>
            <a:r>
              <a:rPr lang="en-GB" dirty="0" err="1">
                <a:ea typeface="+mn-lt"/>
                <a:cs typeface="+mn-lt"/>
              </a:rPr>
              <a:t>prototipo</a:t>
            </a:r>
            <a:r>
              <a:rPr lang="en-GB" dirty="0">
                <a:ea typeface="+mn-lt"/>
                <a:cs typeface="+mn-lt"/>
              </a:rPr>
              <a:t>: 4260€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023360"/>
            <a:ext cx="10515600" cy="2377440"/>
          </a:xfrm>
          <a:prstGeom prst="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9966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Lección</a:t>
            </a: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t>Explorar Rust + Embassy fue valioso, pero se priorizó la viabilidad con C/FreeRTOS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680"/>
                </a:solidFill>
                <a:latin typeface="Calibri"/>
              </a:rPr>
              <a:t>aiBass — TFG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15479A-A314-C7DC-0E6A-118E5627D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354" y="2302377"/>
            <a:ext cx="2153293" cy="12600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FB1"/>
          </a:solidFill>
          <a:ln>
            <a:solidFill>
              <a:srgbClr val="30C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1E1E"/>
                </a:solidFill>
                <a:latin typeface="Calibri"/>
              </a:rPr>
              <a:t>Trabajo futuro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466146" cy="257903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dirty="0"/>
              <a:t>Mejorar </a:t>
            </a:r>
            <a:r>
              <a:rPr dirty="0" err="1"/>
              <a:t>resolución</a:t>
            </a:r>
            <a:r>
              <a:rPr dirty="0"/>
              <a:t> musical y </a:t>
            </a:r>
            <a:r>
              <a:rPr dirty="0" err="1"/>
              <a:t>robustez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condiciones</a:t>
            </a:r>
            <a:r>
              <a:rPr dirty="0"/>
              <a:t> reales.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dirty="0" err="1"/>
              <a:t>Optimizar</a:t>
            </a:r>
            <a:r>
              <a:rPr dirty="0"/>
              <a:t> </a:t>
            </a:r>
            <a:r>
              <a:rPr dirty="0" err="1"/>
              <a:t>montaje</a:t>
            </a:r>
            <a:r>
              <a:rPr dirty="0"/>
              <a:t> y </a:t>
            </a:r>
            <a:r>
              <a:rPr dirty="0" err="1"/>
              <a:t>aislamiento</a:t>
            </a:r>
            <a:r>
              <a:rPr dirty="0"/>
              <a:t> del sensor.</a:t>
            </a:r>
            <a:endParaRPr dirty="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dirty="0"/>
              <a:t>Placa </a:t>
            </a:r>
            <a:r>
              <a:rPr dirty="0" err="1"/>
              <a:t>propia</a:t>
            </a:r>
            <a:r>
              <a:rPr dirty="0"/>
              <a:t> y </a:t>
            </a:r>
            <a:r>
              <a:rPr dirty="0" err="1"/>
              <a:t>carcasa</a:t>
            </a:r>
            <a:r>
              <a:rPr dirty="0"/>
              <a:t> 3D para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componentes</a:t>
            </a:r>
            <a:r>
              <a:rPr dirty="0"/>
              <a:t> del kit.</a:t>
            </a:r>
            <a:endParaRPr dirty="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dirty="0"/>
              <a:t>Salida MIDI/DAW y </a:t>
            </a:r>
            <a:r>
              <a:rPr dirty="0" err="1"/>
              <a:t>ampliación</a:t>
            </a:r>
            <a:r>
              <a:rPr dirty="0"/>
              <a:t> de </a:t>
            </a:r>
            <a:r>
              <a:rPr dirty="0" err="1"/>
              <a:t>clases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  <a:defRPr sz="2200">
                <a:solidFill>
                  <a:srgbClr val="1E1E1E"/>
                </a:solidFill>
                <a:latin typeface="Calibri"/>
              </a:defRPr>
            </a:pPr>
            <a:r>
              <a:rPr lang="en-GB" dirty="0" err="1">
                <a:ea typeface="Calibri"/>
                <a:cs typeface="Calibri"/>
              </a:rPr>
              <a:t>Crecimiento</a:t>
            </a:r>
            <a:r>
              <a:rPr lang="en-GB" dirty="0">
                <a:ea typeface="Calibri"/>
                <a:cs typeface="Calibri"/>
              </a:rPr>
              <a:t> y </a:t>
            </a:r>
            <a:r>
              <a:rPr lang="en-GB" dirty="0" err="1">
                <a:ea typeface="Calibri"/>
                <a:cs typeface="Calibri"/>
              </a:rPr>
              <a:t>poda</a:t>
            </a:r>
            <a:r>
              <a:rPr lang="en-GB" dirty="0">
                <a:ea typeface="Calibri"/>
                <a:cs typeface="Calibri"/>
              </a:rPr>
              <a:t> del dataset.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77840"/>
            <a:ext cx="10515600" cy="914400"/>
          </a:xfrm>
          <a:prstGeom prst="rect">
            <a:avLst/>
          </a:prstGeom>
          <a:solidFill>
            <a:srgbClr val="E8F8F4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576072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  <a:latin typeface="Calibri"/>
              </a:defRPr>
            </a:pPr>
            <a:r>
              <a:t>Conclusión</a:t>
            </a:r>
          </a:p>
          <a:p>
            <a:pPr>
              <a:defRPr sz="1600">
                <a:solidFill>
                  <a:srgbClr val="6E7680"/>
                </a:solidFill>
                <a:latin typeface="Calibri"/>
              </a:defRPr>
            </a:pPr>
            <a:r>
              <a:t>Prototipo funcional de IA embebida con base escalable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680"/>
                </a:solidFill>
                <a:latin typeface="Calibri"/>
              </a:rPr>
              <a:t>aiBass — TFG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230</cp:revision>
  <dcterms:created xsi:type="dcterms:W3CDTF">2013-01-27T09:14:16Z</dcterms:created>
  <dcterms:modified xsi:type="dcterms:W3CDTF">2026-05-28T09:23:20Z</dcterms:modified>
  <cp:category/>
</cp:coreProperties>
</file>